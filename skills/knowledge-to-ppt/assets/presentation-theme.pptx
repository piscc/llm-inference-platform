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481ebb1b744eb5" /><Relationship Type="http://schemas.openxmlformats.org/officeDocument/2006/relationships/extended-properties" Target="/docProps/app.xml" Id="Rde1da785166e43c9" /><Relationship Type="http://schemas.openxmlformats.org/officeDocument/2006/relationships/officeDocument" Target="/ppt/presentation.xml" Id="R7c56269c67fc49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3e3cadd4d748fb"/>
  </p:sldMasterIdLst>
  <p:notesMasterIdLst>
    <p:notesMasterId xmlns:r="http://schemas.openxmlformats.org/officeDocument/2006/relationships" r:id="Ra0980d50a6c74117"/>
  </p:notesMasterIdLst>
  <p:sldIdLst>
    <p:sldId xmlns:r="http://schemas.openxmlformats.org/officeDocument/2006/relationships" id="256" r:id="R8212307824b24028"/>
    <p:sldId xmlns:r="http://schemas.openxmlformats.org/officeDocument/2006/relationships" id="257" r:id="R5de8a0844e034259"/>
    <p:sldId xmlns:r="http://schemas.openxmlformats.org/officeDocument/2006/relationships" id="258" r:id="R3a7895f4701745c1"/>
    <p:sldId xmlns:r="http://schemas.openxmlformats.org/officeDocument/2006/relationships" id="259" r:id="R79749a20fd904017"/>
    <p:sldId xmlns:r="http://schemas.openxmlformats.org/officeDocument/2006/relationships" id="260" r:id="Rabbfbf3b0fef4fc9"/>
    <p:sldId xmlns:r="http://schemas.openxmlformats.org/officeDocument/2006/relationships" id="261" r:id="R58ca75b16e154a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95f2b83a6b4bb1" /><Relationship Type="http://schemas.openxmlformats.org/officeDocument/2006/relationships/slideMaster" Target="/ppt/slideMasters/slideMaster1.xml" Id="Rde3e3cadd4d748fb" /><Relationship Type="http://schemas.openxmlformats.org/officeDocument/2006/relationships/notesMaster" Target="/ppt/notesMasters/notesMaster1.xml" Id="Ra0980d50a6c74117" /><Relationship Type="http://schemas.openxmlformats.org/officeDocument/2006/relationships/presProps" Target="/ppt/presProps.xml" Id="R3943cd413435463f" /><Relationship Type="http://schemas.openxmlformats.org/officeDocument/2006/relationships/tableStyles" Target="/ppt/tableStyles.xml" Id="R9af8f68298a54039" /><Relationship Type="http://schemas.openxmlformats.org/officeDocument/2006/relationships/slide" Target="/ppt/slides/slide1.xml" Id="R8212307824b24028" /><Relationship Type="http://schemas.openxmlformats.org/officeDocument/2006/relationships/slide" Target="/ppt/slides/slide2.xml" Id="R5de8a0844e034259" /><Relationship Type="http://schemas.openxmlformats.org/officeDocument/2006/relationships/slide" Target="/ppt/slides/slide3.xml" Id="R3a7895f4701745c1" /><Relationship Type="http://schemas.openxmlformats.org/officeDocument/2006/relationships/slide" Target="/ppt/slides/slide4.xml" Id="R79749a20fd904017" /><Relationship Type="http://schemas.openxmlformats.org/officeDocument/2006/relationships/slide" Target="/ppt/slides/slide5.xml" Id="Rabbfbf3b0fef4fc9" /><Relationship Type="http://schemas.openxmlformats.org/officeDocument/2006/relationships/slide" Target="/ppt/slides/slide6.xml" Id="R58ca75b16e154a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9dff104adc49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889f5195804b59" /><Relationship Type="http://schemas.openxmlformats.org/officeDocument/2006/relationships/notesMaster" Target="/ppt/notesMasters/notesMaster1.xml" Id="R0eb03a6cc7b342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2b9329a8bc44e3" /><Relationship Type="http://schemas.openxmlformats.org/officeDocument/2006/relationships/notesMaster" Target="/ppt/notesMasters/notesMaster1.xml" Id="R5f7f3ebb8e8d42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b472500490470b" /><Relationship Type="http://schemas.openxmlformats.org/officeDocument/2006/relationships/notesMaster" Target="/ppt/notesMasters/notesMaster1.xml" Id="R207740c1a8734a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0c992919484be0" /><Relationship Type="http://schemas.openxmlformats.org/officeDocument/2006/relationships/notesMaster" Target="/ppt/notesMasters/notesMaster1.xml" Id="Rf96d1d92d9d34c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836147e71045ff" /><Relationship Type="http://schemas.openxmlformats.org/officeDocument/2006/relationships/notesMaster" Target="/ppt/notesMasters/notesMaster1.xml" Id="R2f1ee758d22145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fd09246bc34e1a" /><Relationship Type="http://schemas.openxmlformats.org/officeDocument/2006/relationships/notesMaster" Target="/ppt/notesMasters/notesMaster1.xml" Id="Rcbf8e3a5306445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说明本示例只演示诊断方法，不包含真实性能数据。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M5 推理链路诊断台当前页面</a:t>
            </a:r>
          </a:p>
          <a:p xmlns:a="http://schemas.openxmlformats.org/drawingml/2006/main">
            <a:r>
              <a:t>- 当前平台上下文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强调症状、证据和结论之间不能跳步。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M5 推理链路诊断台当前页面</a:t>
            </a:r>
          </a:p>
          <a:p xmlns:a="http://schemas.openxmlformats.org/drawingml/2006/main">
            <a:r>
              <a:t>- 当前平台上下文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用当前页面证据解释排序依据。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M5 推理链路诊断台候选原因与验证步骤</a:t>
            </a:r>
          </a:p>
          <a:p xmlns:a="http://schemas.openxmlformats.org/drawingml/2006/main">
            <a:r>
              <a:t>- 当前平台上下文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这一页用于讲清诊断流程的可复现性。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M5 推理链路诊断台当前页面</a:t>
            </a:r>
          </a:p>
          <a:p xmlns:a="http://schemas.openxmlformats.org/drawingml/2006/main">
            <a:r>
              <a:t>- 当前平台上下文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把永久回答边界作为诊断材料的一部分。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M6 全局上下文智能体回答边界</a:t>
            </a:r>
          </a:p>
          <a:p xmlns:a="http://schemas.openxmlformats.org/drawingml/2006/main">
            <a:r>
              <a:t>- 当前平台上下文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以可执行的下一步结束，不以泛化总结收尾。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M5 推理链路诊断台当前页面</a:t>
            </a:r>
          </a:p>
          <a:p xmlns:a="http://schemas.openxmlformats.org/drawingml/2006/main">
            <a:r>
              <a:t>- 当前平台上下文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06f753a87f4e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9331d51e364a12" /><Relationship Type="http://schemas.openxmlformats.org/officeDocument/2006/relationships/slideLayout" Target="/ppt/slideLayouts/slideLayout1.xml" Id="R48435e3eee234d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435e3eee234d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b00403f384962" /><Relationship Type="http://schemas.openxmlformats.org/officeDocument/2006/relationships/notesSlide" Target="/ppt/notesSlides/notesSlide1.xml" Id="Rcfcb0855dd394f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9deea4fb24456" /><Relationship Type="http://schemas.openxmlformats.org/officeDocument/2006/relationships/notesSlide" Target="/ppt/notesSlides/notesSlide2.xml" Id="Rbd7036fbc7d24c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04870f3054f48" /><Relationship Type="http://schemas.openxmlformats.org/officeDocument/2006/relationships/notesSlide" Target="/ppt/notesSlides/notesSlide3.xml" Id="R1282cf29022749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1d8f459be41bd" /><Relationship Type="http://schemas.openxmlformats.org/officeDocument/2006/relationships/notesSlide" Target="/ppt/notesSlides/notesSlide4.xml" Id="Rd87bb69e26fd40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689c939f740d8" /><Relationship Type="http://schemas.openxmlformats.org/officeDocument/2006/relationships/notesSlide" Target="/ppt/notesSlides/notesSlide5.xml" Id="Rfe8c2c29910541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882a2de124a4a" /><Relationship Type="http://schemas.openxmlformats.org/officeDocument/2006/relationships/notesSlide" Target="/ppt/notesSlides/notesSlide6.xml" Id="R84c1a0a4a12a49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0F88C87-978D-46CF-93A5-03F3FECE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62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k-label">
            <a:extLst xmlns:a="http://schemas.openxmlformats.org/drawingml/2006/main">
              <a:ext uri="{FF2B5EF4-FFF2-40B4-BE49-F238E27FC236}">
                <a16:creationId xmlns:a16="http://schemas.microsoft.com/office/drawing/2014/main" id="{1F5487D8-D00C-4A8E-9EFD-8BB61DFB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287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rPr>
              <a:t>LLM INFERENCE LAB · TECHNICAL BRIEFING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1D22889B-FC4A-480F-98D6-CB24766D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14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证据驱动的推理链路诊断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2DE91710-D80D-4D9D-8748-2516D9EE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rPr>
              <a:t>诊断的目标不是快速猜中，而是让每一步判断都能被验证。</a:t>
            </a:r>
          </a:p>
        </p:txBody>
      </p:sp>
      <p:sp>
        <p:nvSpPr>
          <p:cNvPr id="5" name="deck-audience">
            <a:extLst xmlns:a="http://schemas.openxmlformats.org/drawingml/2006/main">
              <a:ext uri="{FF2B5EF4-FFF2-40B4-BE49-F238E27FC236}">
                <a16:creationId xmlns:a16="http://schemas.microsoft.com/office/drawing/2014/main" id="{3867A1CD-B635-42B9-A5BD-B66DFB85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911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rPr>
              <a:t>部门技术同事 · 10 分钟</a:t>
            </a:r>
          </a:p>
        </p:txBody>
      </p:sp>
      <p:sp>
        <p:nvSpPr>
          <p:cNvPr id="6" name="deck-page">
            <a:extLst xmlns:a="http://schemas.openxmlformats.org/drawingml/2006/main">
              <a:ext uri="{FF2B5EF4-FFF2-40B4-BE49-F238E27FC236}">
                <a16:creationId xmlns:a16="http://schemas.microsoft.com/office/drawing/2014/main" id="{30474588-DCF3-40CF-A839-343B7AC3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01015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ule-1">
            <a:extLst xmlns:a="http://schemas.openxmlformats.org/drawingml/2006/main">
              <a:ext uri="{FF2B5EF4-FFF2-40B4-BE49-F238E27FC236}">
                <a16:creationId xmlns:a16="http://schemas.microsoft.com/office/drawing/2014/main" id="{8C454902-CF0E-4EEA-B7DA-E849B5A9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">
            <a:extLst xmlns:a="http://schemas.openxmlformats.org/drawingml/2006/main">
              <a:ext uri="{FF2B5EF4-FFF2-40B4-BE49-F238E27FC236}">
                <a16:creationId xmlns:a16="http://schemas.microsoft.com/office/drawing/2014/main" id="{466B8A12-7311-4945-94BC-05DE5AC8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rPr>
              <a:t>LLM INFERENCE LAB</a:t>
            </a:r>
          </a:p>
        </p:txBody>
      </p:sp>
      <p:sp>
        <p:nvSpPr>
          <p:cNvPr id="3" name="page-1">
            <a:extLst xmlns:a="http://schemas.openxmlformats.org/drawingml/2006/main">
              <a:ext uri="{FF2B5EF4-FFF2-40B4-BE49-F238E27FC236}">
                <a16:creationId xmlns:a16="http://schemas.microsoft.com/office/drawing/2014/main" id="{1ABB6B05-5E33-47D2-9622-38D5997C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itle-1">
            <a:extLst xmlns:a="http://schemas.openxmlformats.org/drawingml/2006/main">
              <a:ext uri="{FF2B5EF4-FFF2-40B4-BE49-F238E27FC236}">
                <a16:creationId xmlns:a16="http://schemas.microsoft.com/office/drawing/2014/main" id="{98750A26-3DBB-4D66-9A1A-E04EE893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同一个症状可能来自不同阶段</a:t>
            </a:r>
          </a:p>
        </p:txBody>
      </p:sp>
      <p:sp>
        <p:nvSpPr>
          <p:cNvPr id="5" name="takeaway-1">
            <a:extLst xmlns:a="http://schemas.openxmlformats.org/drawingml/2006/main">
              <a:ext uri="{FF2B5EF4-FFF2-40B4-BE49-F238E27FC236}">
                <a16:creationId xmlns:a16="http://schemas.microsoft.com/office/drawing/2014/main" id="{0E2D5112-2B6D-4002-A8B8-F893D0A9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rPr>
              <a:t>TTFT、TPOT、OOM 或吞吐变化只能定位观察入口，不能单独确认根因。</a:t>
            </a:r>
          </a:p>
        </p:txBody>
      </p:sp>
      <p:sp>
        <p:nvSpPr>
          <p:cNvPr id="6" name="bullet-mark-0">
            <a:extLst xmlns:a="http://schemas.openxmlformats.org/drawingml/2006/main">
              <a:ext uri="{FF2B5EF4-FFF2-40B4-BE49-F238E27FC236}">
                <a16:creationId xmlns:a16="http://schemas.microsoft.com/office/drawing/2014/main" id="{70EC2923-A00B-4486-B7EE-4B9BE822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5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0">
            <a:extLst xmlns:a="http://schemas.openxmlformats.org/drawingml/2006/main">
              <a:ext uri="{FF2B5EF4-FFF2-40B4-BE49-F238E27FC236}">
                <a16:creationId xmlns:a16="http://schemas.microsoft.com/office/drawing/2014/main" id="{C485AEDF-3C84-4018-9F8F-0F762269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先确认症状出现在哪个请求阶段</a:t>
            </a:r>
          </a:p>
        </p:txBody>
      </p:sp>
      <p:sp>
        <p:nvSpPr>
          <p:cNvPr id="8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17E83FDA-D038-4029-91FD-7ED3A018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5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32FE3DED-A230-4B19-AD63-573DDE72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记录已选证据与尚缺证据</a:t>
            </a:r>
          </a:p>
        </p:txBody>
      </p:sp>
      <p:sp>
        <p:nvSpPr>
          <p:cNvPr id="10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B681E5D3-5839-4430-B96C-90C74728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5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C1E1C81F-9055-4150-9A22-CDDE98E5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把负载、模型与部署条件放进同一上下文</a:t>
            </a:r>
          </a:p>
        </p:txBody>
      </p:sp>
      <p:sp>
        <p:nvSpPr>
          <p:cNvPr id="12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3F10E1AF-CA82-4480-A678-5BD54D67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5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767232D8-4B92-464E-B5A9-3E9675BA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避免把时间相关性直接写成因果关系</a:t>
            </a:r>
          </a:p>
        </p:txBody>
      </p:sp>
    </p:spTree>
    <p:extLst>
      <p:ext uri="{BB962C8B-B14F-4D97-AF65-F5344CB8AC3E}">
        <p14:creationId xmlns:p14="http://schemas.microsoft.com/office/powerpoint/2010/main" val="427097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ule-2">
            <a:extLst xmlns:a="http://schemas.openxmlformats.org/drawingml/2006/main">
              <a:ext uri="{FF2B5EF4-FFF2-40B4-BE49-F238E27FC236}">
                <a16:creationId xmlns:a16="http://schemas.microsoft.com/office/drawing/2014/main" id="{EBB13D2B-201C-46ED-ABFC-653F8724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BE106D03-B4C4-48A7-B7AB-5A91D8C3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rPr>
              <a:t>LLM INFERENCE LAB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8F0A26CB-8674-445F-B191-07B11272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97D6E4C6-AD90-4989-9ECA-DA41003B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用证据排序候选原因</a:t>
            </a:r>
          </a:p>
        </p:txBody>
      </p:sp>
      <p:sp>
        <p:nvSpPr>
          <p:cNvPr id="5" name="takeaway-2">
            <a:extLst xmlns:a="http://schemas.openxmlformats.org/drawingml/2006/main">
              <a:ext uri="{FF2B5EF4-FFF2-40B4-BE49-F238E27FC236}">
                <a16:creationId xmlns:a16="http://schemas.microsoft.com/office/drawing/2014/main" id="{ECAC6F0B-E7CF-4CC4-8B99-44F1BC24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rPr>
              <a:t>排序表示当前证据的支持程度，不表示候选原因已经被确认。</a:t>
            </a:r>
          </a:p>
        </p:txBody>
      </p:sp>
      <p:sp>
        <p:nvSpPr>
          <p:cNvPr id="6" name="diagnosis-label-0">
            <a:extLst xmlns:a="http://schemas.openxmlformats.org/drawingml/2006/main">
              <a:ext uri="{FF2B5EF4-FFF2-40B4-BE49-F238E27FC236}">
                <a16:creationId xmlns:a16="http://schemas.microsoft.com/office/drawing/2014/main" id="{DE6E20A0-35A3-4DF6-A233-1974D2A2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rPr>
              <a:t>现象与证据</a:t>
            </a:r>
          </a:p>
        </p:txBody>
      </p:sp>
      <p:sp>
        <p:nvSpPr>
          <p:cNvPr id="7" name="diagnosis-rule-0">
            <a:extLst xmlns:a="http://schemas.openxmlformats.org/drawingml/2006/main">
              <a:ext uri="{FF2B5EF4-FFF2-40B4-BE49-F238E27FC236}">
                <a16:creationId xmlns:a16="http://schemas.microsoft.com/office/drawing/2014/main" id="{01A85400-243E-4C1E-9451-25B29769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iagnosis-body-0">
            <a:extLst xmlns:a="http://schemas.openxmlformats.org/drawingml/2006/main">
              <a:ext uri="{FF2B5EF4-FFF2-40B4-BE49-F238E27FC236}">
                <a16:creationId xmlns:a16="http://schemas.microsoft.com/office/drawing/2014/main" id="{B4F2EF26-C223-4C94-9A71-EF75E548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219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现象与证据：保留当前指标、阶段筛选和已选证据</a:t>
            </a:r>
          </a:p>
        </p:txBody>
      </p:sp>
      <p:sp>
        <p:nvSpPr>
          <p:cNvPr id="9" name="diagnosis-label-1">
            <a:extLst xmlns:a="http://schemas.openxmlformats.org/drawingml/2006/main">
              <a:ext uri="{FF2B5EF4-FFF2-40B4-BE49-F238E27FC236}">
                <a16:creationId xmlns:a16="http://schemas.microsoft.com/office/drawing/2014/main" id="{0CA92688-239E-43B5-8241-5F8FD3EA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46D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46D3B"/>
                </a:solidFill>
                <a:latin typeface="Microsoft YaHei"/>
                <a:ea typeface="Microsoft YaHei"/>
                <a:cs typeface="Microsoft YaHei"/>
              </a:rPr>
              <a:t>候选原因</a:t>
            </a:r>
          </a:p>
        </p:txBody>
      </p:sp>
      <p:sp>
        <p:nvSpPr>
          <p:cNvPr id="10" name="diagnosis-rule-1">
            <a:extLst xmlns:a="http://schemas.openxmlformats.org/drawingml/2006/main">
              <a:ext uri="{FF2B5EF4-FFF2-40B4-BE49-F238E27FC236}">
                <a16:creationId xmlns:a16="http://schemas.microsoft.com/office/drawing/2014/main" id="{31C23535-6D59-462F-8487-4B5CBBEB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iagnosis-body-1">
            <a:extLst xmlns:a="http://schemas.openxmlformats.org/drawingml/2006/main">
              <a:ext uri="{FF2B5EF4-FFF2-40B4-BE49-F238E27FC236}">
                <a16:creationId xmlns:a16="http://schemas.microsoft.com/office/drawing/2014/main" id="{FFCB2F91-69C0-4769-82F6-0974B9FA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3219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候选原因：只列出与可见阶段和证据匹配的候选项</a:t>
            </a:r>
          </a:p>
        </p:txBody>
      </p:sp>
      <p:sp>
        <p:nvSpPr>
          <p:cNvPr id="12" name="diagnosis-label-2">
            <a:extLst xmlns:a="http://schemas.openxmlformats.org/drawingml/2006/main">
              <a:ext uri="{FF2B5EF4-FFF2-40B4-BE49-F238E27FC236}">
                <a16:creationId xmlns:a16="http://schemas.microsoft.com/office/drawing/2014/main" id="{0198E3F3-2DFD-4DC7-B2B5-F376CAB5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770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7705D"/>
                </a:solidFill>
                <a:latin typeface="Microsoft YaHei"/>
                <a:ea typeface="Microsoft YaHei"/>
                <a:cs typeface="Microsoft YaHei"/>
              </a:rPr>
              <a:t>验证路径</a:t>
            </a:r>
          </a:p>
        </p:txBody>
      </p:sp>
      <p:sp>
        <p:nvSpPr>
          <p:cNvPr id="13" name="diagnosis-rule-2">
            <a:extLst xmlns:a="http://schemas.openxmlformats.org/drawingml/2006/main">
              <a:ext uri="{FF2B5EF4-FFF2-40B4-BE49-F238E27FC236}">
                <a16:creationId xmlns:a16="http://schemas.microsoft.com/office/drawing/2014/main" id="{736D7433-1179-4D53-A7DD-3E7365DC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8130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0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iagnosis-body-2">
            <a:extLst xmlns:a="http://schemas.openxmlformats.org/drawingml/2006/main">
              <a:ext uri="{FF2B5EF4-FFF2-40B4-BE49-F238E27FC236}">
                <a16:creationId xmlns:a16="http://schemas.microsoft.com/office/drawing/2014/main" id="{2981665E-3866-430B-9381-512CD75A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48000"/>
            <a:ext cx="3219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验证路径：选择能够区分候选原因的下一步检查</a:t>
            </a:r>
          </a:p>
        </p:txBody>
      </p:sp>
      <p:sp>
        <p:nvSpPr>
          <p:cNvPr id="15" name="diagnosis-boundary">
            <a:extLst xmlns:a="http://schemas.openxmlformats.org/drawingml/2006/main">
              <a:ext uri="{FF2B5EF4-FFF2-40B4-BE49-F238E27FC236}">
                <a16:creationId xmlns:a16="http://schemas.microsoft.com/office/drawing/2014/main" id="{D9A6C7CD-3E60-49B9-A01E-CAA2D88A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rPr>
              <a:t>边界：排除一个候选项后再更新排序，不回填结论</a:t>
            </a:r>
          </a:p>
        </p:txBody>
      </p:sp>
    </p:spTree>
    <p:extLst>
      <p:ext uri="{BB962C8B-B14F-4D97-AF65-F5344CB8AC3E}">
        <p14:creationId xmlns:p14="http://schemas.microsoft.com/office/powerpoint/2010/main" val="17957717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ule-3">
            <a:extLst xmlns:a="http://schemas.openxmlformats.org/drawingml/2006/main">
              <a:ext uri="{FF2B5EF4-FFF2-40B4-BE49-F238E27FC236}">
                <a16:creationId xmlns:a16="http://schemas.microsoft.com/office/drawing/2014/main" id="{F269E84E-FBA5-48AF-AE25-B8CF2EAB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D1863B43-61A0-4A5D-AB06-B5294116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rPr>
              <a:t>LLM INFERENCE LAB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7464BBC2-8624-4CA1-BC1C-8DD8DB4B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299A29E8-5800-424C-A744-E4BEDBC1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诊断过程保持可复现</a:t>
            </a:r>
          </a:p>
        </p:txBody>
      </p:sp>
      <p:sp>
        <p:nvSpPr>
          <p:cNvPr id="5" name="takeaway-3">
            <a:extLst xmlns:a="http://schemas.openxmlformats.org/drawingml/2006/main">
              <a:ext uri="{FF2B5EF4-FFF2-40B4-BE49-F238E27FC236}">
                <a16:creationId xmlns:a16="http://schemas.microsoft.com/office/drawing/2014/main" id="{670DBE87-57D8-493E-91AF-984FED7C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rPr>
              <a:t>每一步都记录输入、判断依据和下一步动作，才能让其他人复核。</a:t>
            </a:r>
          </a:p>
        </p:txBody>
      </p:sp>
      <p:sp>
        <p:nvSpPr>
          <p:cNvPr id="6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70F68F1E-F21A-41C7-8E74-B5185CC2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step-rule-0">
            <a:extLst xmlns:a="http://schemas.openxmlformats.org/drawingml/2006/main">
              <a:ext uri="{FF2B5EF4-FFF2-40B4-BE49-F238E27FC236}">
                <a16:creationId xmlns:a16="http://schemas.microsoft.com/office/drawing/2014/main" id="{1B9E43F8-0477-4086-B7AF-9738115F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7172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0">
            <a:extLst xmlns:a="http://schemas.openxmlformats.org/drawingml/2006/main">
              <a:ext uri="{FF2B5EF4-FFF2-40B4-BE49-F238E27FC236}">
                <a16:creationId xmlns:a16="http://schemas.microsoft.com/office/drawing/2014/main" id="{F90FE1AA-2C21-4B07-BAE7-7416D99D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288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固定当前模型、负载与部署条件</a:t>
            </a:r>
          </a:p>
        </p:txBody>
      </p:sp>
      <p:sp>
        <p:nvSpPr>
          <p:cNvPr id="9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64F93B4F-39C1-441E-BB05-90F3EEDD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step-rule-1">
            <a:extLst xmlns:a="http://schemas.openxmlformats.org/drawingml/2006/main">
              <a:ext uri="{FF2B5EF4-FFF2-40B4-BE49-F238E27FC236}">
                <a16:creationId xmlns:a16="http://schemas.microsoft.com/office/drawing/2014/main" id="{4AF54946-FD9D-4F6E-8981-3EE5071F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146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1">
            <a:extLst xmlns:a="http://schemas.openxmlformats.org/drawingml/2006/main">
              <a:ext uri="{FF2B5EF4-FFF2-40B4-BE49-F238E27FC236}">
                <a16:creationId xmlns:a16="http://schemas.microsoft.com/office/drawing/2014/main" id="{2334903E-A486-45A4-A76D-FCD559AF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718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复述当前症状并标记出现阶段</a:t>
            </a:r>
          </a:p>
        </p:txBody>
      </p:sp>
      <p:sp>
        <p:nvSpPr>
          <p:cNvPr id="1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D0B8880F-45A0-4D3F-B66C-C674A260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step-rule-2">
            <a:extLst xmlns:a="http://schemas.openxmlformats.org/drawingml/2006/main">
              <a:ext uri="{FF2B5EF4-FFF2-40B4-BE49-F238E27FC236}">
                <a16:creationId xmlns:a16="http://schemas.microsoft.com/office/drawing/2014/main" id="{19DAEB53-1AB2-44B7-A974-083F1DE7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5762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2">
            <a:extLst xmlns:a="http://schemas.openxmlformats.org/drawingml/2006/main">
              <a:ext uri="{FF2B5EF4-FFF2-40B4-BE49-F238E27FC236}">
                <a16:creationId xmlns:a16="http://schemas.microsoft.com/office/drawing/2014/main" id="{B539A42D-48F5-491D-B87F-70D63684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汇总已选与未选证据</a:t>
            </a:r>
          </a:p>
        </p:txBody>
      </p:sp>
      <p:sp>
        <p:nvSpPr>
          <p:cNvPr id="15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3855A95-0922-4A86-8291-AC571E9C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step-rule-3">
            <a:extLst xmlns:a="http://schemas.openxmlformats.org/drawingml/2006/main">
              <a:ext uri="{FF2B5EF4-FFF2-40B4-BE49-F238E27FC236}">
                <a16:creationId xmlns:a16="http://schemas.microsoft.com/office/drawing/2014/main" id="{67F08B11-3B29-4EDB-B730-2D0FC271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005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-3">
            <a:extLst xmlns:a="http://schemas.openxmlformats.org/drawingml/2006/main">
              <a:ext uri="{FF2B5EF4-FFF2-40B4-BE49-F238E27FC236}">
                <a16:creationId xmlns:a16="http://schemas.microsoft.com/office/drawing/2014/main" id="{01BDE60E-EB3F-4C67-B21B-979CAE2A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577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执行区分性检查并记录结果</a:t>
            </a:r>
          </a:p>
        </p:txBody>
      </p:sp>
      <p:sp>
        <p:nvSpPr>
          <p:cNvPr id="18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A9FF6E32-F261-4687-B981-4AE0BDFC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step-rule-4">
            <a:extLst xmlns:a="http://schemas.openxmlformats.org/drawingml/2006/main">
              <a:ext uri="{FF2B5EF4-FFF2-40B4-BE49-F238E27FC236}">
                <a16:creationId xmlns:a16="http://schemas.microsoft.com/office/drawing/2014/main" id="{3D84E859-400A-4145-8F6A-33B9F41F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4352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4">
            <a:extLst xmlns:a="http://schemas.openxmlformats.org/drawingml/2006/main">
              <a:ext uri="{FF2B5EF4-FFF2-40B4-BE49-F238E27FC236}">
                <a16:creationId xmlns:a16="http://schemas.microsoft.com/office/drawing/2014/main" id="{10E89084-4CD0-47F9-88BD-0A8FC339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006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根据新证据更新候选原因排序</a:t>
            </a:r>
          </a:p>
        </p:txBody>
      </p:sp>
    </p:spTree>
    <p:extLst>
      <p:ext uri="{BB962C8B-B14F-4D97-AF65-F5344CB8AC3E}">
        <p14:creationId xmlns:p14="http://schemas.microsoft.com/office/powerpoint/2010/main" val="10949960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ule-4">
            <a:extLst xmlns:a="http://schemas.openxmlformats.org/drawingml/2006/main">
              <a:ext uri="{FF2B5EF4-FFF2-40B4-BE49-F238E27FC236}">
                <a16:creationId xmlns:a16="http://schemas.microsoft.com/office/drawing/2014/main" id="{BE01946E-8E1D-4D81-ADF0-AFB7194F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C155BC4D-0FF8-4620-9232-F9845424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rPr>
              <a:t>LLM INFERENCE LAB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13199E05-9D67-4B47-AFDF-BAB90E79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8DFD1ADD-68B5-4860-8EEF-7891F9DD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容量公式和结构计数不是实测性能</a:t>
            </a:r>
          </a:p>
        </p:txBody>
      </p:sp>
      <p:sp>
        <p:nvSpPr>
          <p:cNvPr id="5" name="takeaway-4">
            <a:extLst xmlns:a="http://schemas.openxmlformats.org/drawingml/2006/main">
              <a:ext uri="{FF2B5EF4-FFF2-40B4-BE49-F238E27FC236}">
                <a16:creationId xmlns:a16="http://schemas.microsoft.com/office/drawing/2014/main" id="{D551422C-06CB-4E98-95FD-E7A7E892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rPr>
              <a:t>需要性能结论时，必须补齐模型、硬件、精度、版本、负载与测试方法。</a:t>
            </a:r>
          </a:p>
        </p:txBody>
      </p:sp>
      <p:sp>
        <p:nvSpPr>
          <p:cNvPr id="6" name="bullet-mark-0">
            <a:extLst xmlns:a="http://schemas.openxmlformats.org/drawingml/2006/main">
              <a:ext uri="{FF2B5EF4-FFF2-40B4-BE49-F238E27FC236}">
                <a16:creationId xmlns:a16="http://schemas.microsoft.com/office/drawing/2014/main" id="{A871512B-67D4-486A-A6B8-0A07DEFD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5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0">
            <a:extLst xmlns:a="http://schemas.openxmlformats.org/drawingml/2006/main">
              <a:ext uri="{FF2B5EF4-FFF2-40B4-BE49-F238E27FC236}">
                <a16:creationId xmlns:a16="http://schemas.microsoft.com/office/drawing/2014/main" id="{4FE91DDB-F8A0-4638-8FB0-679BD2AF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M2 的结构计数只描述确定性演示过程</a:t>
            </a:r>
          </a:p>
        </p:txBody>
      </p:sp>
      <p:sp>
        <p:nvSpPr>
          <p:cNvPr id="8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945173BA-94A7-4C63-844F-B749DB61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5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373A8F5C-19B0-4F19-8BA4-D957B91E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M3/M4 的容量结果是公式下界</a:t>
            </a:r>
          </a:p>
        </p:txBody>
      </p:sp>
      <p:sp>
        <p:nvSpPr>
          <p:cNvPr id="10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94E9668D-AE96-4259-B808-112C268D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5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F4D6640D-F179-4CD4-AE2C-B6D4DA5A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诊断页只能解释证据支持程度与验证路径</a:t>
            </a:r>
          </a:p>
        </p:txBody>
      </p:sp>
      <p:sp>
        <p:nvSpPr>
          <p:cNvPr id="12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8A19F732-2697-428B-9BFE-9D5B2DDF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5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2D099257-588E-4751-842D-8B99DE31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缺少完整测试条件时不输出伪精确结论</a:t>
            </a:r>
          </a:p>
        </p:txBody>
      </p:sp>
    </p:spTree>
    <p:extLst>
      <p:ext uri="{BB962C8B-B14F-4D97-AF65-F5344CB8AC3E}">
        <p14:creationId xmlns:p14="http://schemas.microsoft.com/office/powerpoint/2010/main" val="8937569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ule-5">
            <a:extLst xmlns:a="http://schemas.openxmlformats.org/drawingml/2006/main">
              <a:ext uri="{FF2B5EF4-FFF2-40B4-BE49-F238E27FC236}">
                <a16:creationId xmlns:a16="http://schemas.microsoft.com/office/drawing/2014/main" id="{5ED8B8BF-46D4-4BE2-86AE-9A69D63A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F9AC4D82-2E64-44F9-8CF8-4236BF62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rPr>
              <a:t>LLM INFERENCE LAB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48099858-2DA7-45CB-B624-75E68389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1695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itle-5">
            <a:extLst xmlns:a="http://schemas.openxmlformats.org/drawingml/2006/main">
              <a:ext uri="{FF2B5EF4-FFF2-40B4-BE49-F238E27FC236}">
                <a16:creationId xmlns:a16="http://schemas.microsoft.com/office/drawing/2014/main" id="{A57A9936-30AC-46E1-9AEE-4EAFA099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下一步是验证，而不是继续猜测</a:t>
            </a:r>
          </a:p>
        </p:txBody>
      </p:sp>
      <p:sp>
        <p:nvSpPr>
          <p:cNvPr id="5" name="takeaway-5">
            <a:extLst xmlns:a="http://schemas.openxmlformats.org/drawingml/2006/main">
              <a:ext uri="{FF2B5EF4-FFF2-40B4-BE49-F238E27FC236}">
                <a16:creationId xmlns:a16="http://schemas.microsoft.com/office/drawing/2014/main" id="{4665F89C-6DBF-40B5-BCF9-2205D702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65F75"/>
                </a:solidFill>
                <a:latin typeface="Microsoft YaHei"/>
                <a:ea typeface="Microsoft YaHei"/>
                <a:cs typeface="Microsoft YaHei"/>
              </a:rPr>
              <a:t>保留证据、候选原因和验证动作之间的可追溯关系。</a:t>
            </a:r>
          </a:p>
        </p:txBody>
      </p:sp>
      <p:sp>
        <p:nvSpPr>
          <p:cNvPr id="6" name="bullet-mark-0">
            <a:extLst xmlns:a="http://schemas.openxmlformats.org/drawingml/2006/main">
              <a:ext uri="{FF2B5EF4-FFF2-40B4-BE49-F238E27FC236}">
                <a16:creationId xmlns:a16="http://schemas.microsoft.com/office/drawing/2014/main" id="{6992E5F7-9A01-4613-99CD-A1021CF1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0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0">
            <a:extLst xmlns:a="http://schemas.openxmlformats.org/drawingml/2006/main">
              <a:ext uri="{FF2B5EF4-FFF2-40B4-BE49-F238E27FC236}">
                <a16:creationId xmlns:a16="http://schemas.microsoft.com/office/drawing/2014/main" id="{18C49DD0-C9A1-447A-9567-BF0980AF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先用区分性检查排除一个候选项</a:t>
            </a:r>
          </a:p>
        </p:txBody>
      </p:sp>
      <p:sp>
        <p:nvSpPr>
          <p:cNvPr id="8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2C5FA345-8BAE-4CD7-8110-5BF387CE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0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9C10B7B2-6A7D-4A05-B2E4-E02FBE92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再根据新证据更新排序</a:t>
            </a:r>
          </a:p>
        </p:txBody>
      </p:sp>
      <p:sp>
        <p:nvSpPr>
          <p:cNvPr id="10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9032AF57-9EE1-4E8E-A324-0624B78C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0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3A14DA5F-EB37-4D29-8B1A-C05F0214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需要跨模块复算时回到 M3/M4</a:t>
            </a:r>
          </a:p>
        </p:txBody>
      </p:sp>
      <p:sp>
        <p:nvSpPr>
          <p:cNvPr id="12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6C04C606-5566-49F6-BD95-89B07047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0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779767AD-94E8-448A-A9B6-065F01DE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005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F2A24"/>
                </a:solidFill>
                <a:latin typeface="Microsoft YaHei"/>
                <a:ea typeface="Microsoft YaHei"/>
                <a:cs typeface="Microsoft YaHei"/>
              </a:rPr>
              <a:t>最终结论附带完整条件与来源</a:t>
            </a:r>
          </a:p>
        </p:txBody>
      </p:sp>
    </p:spTree>
    <p:extLst>
      <p:ext uri="{BB962C8B-B14F-4D97-AF65-F5344CB8AC3E}">
        <p14:creationId xmlns:p14="http://schemas.microsoft.com/office/powerpoint/2010/main" val="1294703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2026-08-18T04:08:58.9500000Z</dcterms:created>
  <dcterms:modified xsi:type="dcterms:W3CDTF">2026-08-18T04:08:58.9500000Z</dcterms:modified>
</coreProperties>
</file>